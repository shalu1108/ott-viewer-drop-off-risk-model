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EB001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001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00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001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B001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cognitive_load</c:v>
                  </c:pt>
                  <c:pt idx="1">
                    <c:v>skip_intro</c:v>
                  </c:pt>
                  <c:pt idx="2">
                    <c:v>pause_count</c:v>
                  </c:pt>
                  <c:pt idx="3">
                    <c:v>episode_duration_min</c:v>
                  </c:pt>
                  <c:pt idx="4">
                    <c:v>night_watch_safe</c:v>
                  </c:pt>
                  <c:pt idx="5">
                    <c:v>hook_strength</c:v>
                  </c:pt>
                  <c:pt idx="6">
                    <c:v>pacing_score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0.792</c:v>
                </c:pt>
                <c:pt idx="1">
                  <c:v>0.471</c:v>
                </c:pt>
                <c:pt idx="2">
                  <c:v>0.427</c:v>
                </c:pt>
                <c:pt idx="3">
                  <c:v>0.028</c:v>
                </c:pt>
                <c:pt idx="4">
                  <c:v>-0.164</c:v>
                </c:pt>
                <c:pt idx="5">
                  <c:v>-0.539</c:v>
                </c:pt>
                <c:pt idx="6">
                  <c:v>-0.553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-0.8"/>
        </c:scaling>
        <c:delete val="0"/>
        <c:axPos val="b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F79E1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B001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B001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B001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episode_duration_min</c:v>
                  </c:pt>
                  <c:pt idx="1">
                    <c:v>episode_number</c:v>
                  </c:pt>
                  <c:pt idx="2">
                    <c:v>dialogue_density</c:v>
                  </c:pt>
                  <c:pt idx="3">
                    <c:v>pause_rate_per_min</c:v>
                  </c:pt>
                  <c:pt idx="4">
                    <c:v>hook_strength</c:v>
                  </c:pt>
                  <c:pt idx="5">
                    <c:v>attention_required</c:v>
                  </c:pt>
                  <c:pt idx="6">
                    <c:v>pause_count</c:v>
                  </c:pt>
                  <c:pt idx="7">
                    <c:v>pacing_score</c:v>
                  </c:pt>
                  <c:pt idx="8">
                    <c:v>cognitive_load</c:v>
                  </c:pt>
                  <c:pt idx="9">
                    <c:v>hook_load_balance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0.084</c:v>
                </c:pt>
                <c:pt idx="1">
                  <c:v>0.093</c:v>
                </c:pt>
                <c:pt idx="2">
                  <c:v>0.099</c:v>
                </c:pt>
                <c:pt idx="3">
                  <c:v>0.157</c:v>
                </c:pt>
                <c:pt idx="4">
                  <c:v>0.231</c:v>
                </c:pt>
                <c:pt idx="5">
                  <c:v>0.233</c:v>
                </c:pt>
                <c:pt idx="6">
                  <c:v>0.765</c:v>
                </c:pt>
                <c:pt idx="7">
                  <c:v>1.007</c:v>
                </c:pt>
                <c:pt idx="8">
                  <c:v>1.572</c:v>
                </c:pt>
                <c:pt idx="9">
                  <c:v>3.56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0241280" y="640080"/>
            <a:ext cx="1371600" cy="1371600"/>
          </a:xfrm>
          <a:prstGeom prst="roundRect">
            <a:avLst>
              <a:gd name="adj" fmla="val 18667"/>
            </a:avLst>
          </a:prstGeom>
          <a:solidFill>
            <a:srgbClr val="EB001B"/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10744200" y="1417320"/>
            <a:ext cx="960120" cy="960120"/>
          </a:xfrm>
          <a:prstGeom prst="roundRect">
            <a:avLst>
              <a:gd name="adj" fmla="val 19048"/>
            </a:avLst>
          </a:prstGeom>
          <a:solidFill>
            <a:srgbClr val="F79E1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&amp; ANALYTICS  ·  DATA SCIENCE CASE 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Diagnosing &amp; Reducing Viewer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Drop-Off in OTT Season 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episode-level content-design and behavioral data to find why viewers disengage, predict which episodes are at risk, and prioritize product action.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4754880" cy="0"/>
          </a:xfrm>
          <a:prstGeom prst="line">
            <a:avLst/>
          </a:prstGeom>
          <a:noFill/>
          <a:ln w="25400">
            <a:solidFill>
              <a:srgbClr val="EB00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83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33,171 episodes  ·  489 shows  ·  Season 1 engagement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→ Analysis → ML Methodology → Results → Business Impact →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B00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903720" cy="4709160"/>
          </a:xfrm>
          <a:prstGeom prst="roundRect">
            <a:avLst>
              <a:gd name="adj" fmla="val 1165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platforms launch to strong viewership, but a significant share of viewers disengage during Season 1 — reducing lifetime value and complicating renewal decisions.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teams suspect episode-level design choices (pacing, cognitive load, structure) drive drop-off, but lack a data-backed view of what matters most.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uses episode-level content and behavioral data to move from suspicion to evidence.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931920"/>
            <a:ext cx="626364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069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We Answer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44805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79E1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80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442569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viewers drop off during Season 1?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501091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79E1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10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49560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content and behavioral factors have the greatest impact on drop-off risk?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54126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79E1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41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5486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content/product changes can reduce drop-off without compromising creative quality?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35240" y="1417320"/>
            <a:ext cx="3977640" cy="4709160"/>
          </a:xfrm>
          <a:prstGeom prst="roundRect">
            <a:avLst>
              <a:gd name="adj" fmla="val 137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09560" y="21488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B001B"/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20665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why &amp; where drop-off happens (EDA)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09560" y="280720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B001B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1040" y="27249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 grounded in observed patterns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09560" y="34655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B001B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0" y="33832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per-episode drop-off risk (XGBoost)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09560" y="412394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B001B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40416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drivers with SHAP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909560" y="47823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B001B"/>
          </a:solidFill>
          <a:ln/>
        </p:spPr>
      </p:sp>
      <p:sp>
        <p:nvSpPr>
          <p:cNvPr id="34" name="Text 32"/>
          <p:cNvSpPr/>
          <p:nvPr/>
        </p:nvSpPr>
        <p:spPr>
          <a:xfrm>
            <a:off x="7909560" y="4782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47000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episodes into risk profiles (K-Means)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09560" y="54406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B001B"/>
          </a:solidFill>
          <a:ln/>
        </p:spPr>
      </p:sp>
      <p:sp>
        <p:nvSpPr>
          <p:cNvPr id="37" name="Text 35"/>
          <p:cNvSpPr/>
          <p:nvPr/>
        </p:nvSpPr>
        <p:spPr>
          <a:xfrm>
            <a:off x="7909560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1040" y="535838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findings into prioritized, risk-aware actions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06424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Viewer Retention Diagnostic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79E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foundation right before any modeling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33,171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130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2130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(Season 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2130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drop-off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155448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1540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32,146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915400" y="2130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5394960" cy="3337560"/>
          </a:xfrm>
          <a:prstGeom prst="roundRect">
            <a:avLst>
              <a:gd name="adj" fmla="val 1644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Decisions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3375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on (show, episode, platform) — not (show, episode) alone — removing 1,024 true duplicate-key conflicts while correctly preserving one show's legitimate multi-platform rows.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 implausible outlier (a 1,225-minute episode vs. that show's typical 8–39 min).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show_id, not by row — prevents the same show's episodes leaking across train/test.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platforms/genres (&lt;5 shows) bucketed to "Other", fit on training shows only.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788920"/>
            <a:ext cx="5394960" cy="3337560"/>
          </a:xfrm>
          <a:prstGeom prst="roundRect">
            <a:avLst>
              <a:gd name="adj" fmla="val 1644"/>
            </a:avLst>
          </a:prstGeom>
          <a:solidFill>
            <a:srgbClr val="FFF6E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Handling — Critical Design Choice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33375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drop_off, drop_off_probability and retention_risk are all derived from one score (drop_off = threshold at 0.60 on drop_off_probability) — only drop_off is used as the modeling target.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avg_watch_percentage correlates at -0.96 with the outcome score — it describes how much was watched, i.e. a restatement of the outcome, not an actionable pre-viewing feature. Excluded from modeling.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only on content-design and real-time behavioral-friction features available independent of the outcome.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Viewer Retention Diagnostic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B00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patterns that shaped feature engineering (train split)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92240" cy="4663440"/>
          </a:xfrm>
          <a:prstGeom prst="roundRect">
            <a:avLst>
              <a:gd name="adj" fmla="val 1176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Drop-off Score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01168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223760" y="1463040"/>
            <a:ext cx="4389120" cy="4663440"/>
          </a:xfrm>
          <a:prstGeom prst="roundRect">
            <a:avLst>
              <a:gd name="adj" fmla="val 125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9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 1 Is Uniquely Sticky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49808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rate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326880" y="2011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15–18%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932688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baseline from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2 onward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98080" y="3337560"/>
            <a:ext cx="38404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jumps once, right after episode 1 — it does not ramp up gradually.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viewer friction (pauses, rewinds) tracks with higher drop-off; cognitive load pulls risk up while hook strength pulls it down.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differences exist but are secondary to content-design and friction signals.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06424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Viewer Retention Diagnostic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79E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 &amp;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per-episode drop-off risk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(held-out shows)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(baseline)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(primary model)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2971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grouped CV (robustness check): Mean ROC-AUC 0.990 (±0.001), Mean PR-AUC 0.944 (±0.006) — confirms performance is stable across shows, not a lucky split.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096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Threshold — a Tunable Business Dial</a:t>
            </a:r>
            <a:endParaRPr lang="en-US" sz="13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434840"/>
          <a:ext cx="4937760" cy="14630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Flagged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309360" y="1463040"/>
            <a:ext cx="5303520" cy="4663440"/>
          </a:xfrm>
          <a:prstGeom prst="roundRect">
            <a:avLst>
              <a:gd name="adj" fmla="val 1176"/>
            </a:avLst>
          </a:prstGeom>
          <a:solidFill>
            <a:srgbClr val="FFF6E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583680" y="1645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Demo: Why avg_watch_percentage Was Excluded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58368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Refitting XGBoost with avg_watch_percentage added back: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58368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65836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&amp; PR-AUC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leak included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59536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0.991 / 0.947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59536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/ PR-AUC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primary (clean) model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583680" y="3566160"/>
            <a:ext cx="475488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83680" y="3703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leaky version, avg_watch_percentage dominates feature importance (28.1%), pushing actionable content-design features down the list — a model that scores better but explains less. Confirms exclusion was the right call.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583680" y="4663440"/>
            <a:ext cx="475488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8368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a 0.99 AUC is unusually high for real-world retention problems. This case-study dataset ties content-design features closely to outcomes by design — the value here is the pipeline (leakage control, feature choices, explainability), not the AUC number itself.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106424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Viewer Retention Diagnostic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B00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Drop-off Risk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interpretation of the XGBoost model (test set)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675120" cy="4663440"/>
          </a:xfrm>
          <a:prstGeom prst="roundRect">
            <a:avLst>
              <a:gd name="adj" fmla="val 1176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Drivers of Predicted Drop-off Risk (mean |SHAP|)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011680"/>
          <a:ext cx="61264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452360" y="1463040"/>
            <a:ext cx="4160520" cy="4663440"/>
          </a:xfrm>
          <a:prstGeom prst="roundRect">
            <a:avLst>
              <a:gd name="adj" fmla="val 131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266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26680" y="2103120"/>
            <a:ext cx="3657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hook_load_balance (hook strength minus cognitive load) is by far the strongest driver — engagement vs. complexity, combined into one signal.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cognitive_load and pacing_score follow — episodes that feel dense or slow raise risk.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pause_count is the strongest raw friction signal — viewers pausing often is a concrete, observable warning sign.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SHAP drivers match the EDA patterns from Slide 3 — the model is learning interpretable, not spurious, relationships.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06424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Viewer Retention Diagnostic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79E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 Segmentation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(k=4) on content design &amp; friction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selected over the highest-silhouette k=3 (0.202) for a better balance of cluster quality and actionable segment count. Segments exclude drop_off itself — grouped purely on content/behavior, then read against outcome.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51760" cy="3246120"/>
          </a:xfrm>
          <a:prstGeom prst="roundRect">
            <a:avLst>
              <a:gd name="adj" fmla="val 2069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40280"/>
            <a:ext cx="2194560" cy="73152"/>
          </a:xfrm>
          <a:prstGeom prst="round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Sticky Content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10,798 eps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22452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pacing, low cognitive load, minimal pause/rewind friction — the platform's healthiest profile.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64992" y="2011680"/>
            <a:ext cx="2651760" cy="3246120"/>
          </a:xfrm>
          <a:prstGeom prst="roundRect">
            <a:avLst>
              <a:gd name="adj" fmla="val 2069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93592" y="2240280"/>
            <a:ext cx="2194560" cy="73152"/>
          </a:xfrm>
          <a:prstGeom prst="roundRect">
            <a:avLst/>
          </a:prstGeom>
          <a:solidFill>
            <a:srgbClr val="6B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3547872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547872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47872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Long, Dialogue-Heavy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47872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5,198 eps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93592" y="422452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episodes, strong pacing, higher dialogue density — moderate, manageable risk.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1344" y="2011680"/>
            <a:ext cx="2651760" cy="3246120"/>
          </a:xfrm>
          <a:prstGeom prst="roundRect">
            <a:avLst>
              <a:gd name="adj" fmla="val 2069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9944" y="2240280"/>
            <a:ext cx="2194560" cy="73152"/>
          </a:xfrm>
          <a:prstGeom prst="roundRect">
            <a:avLst/>
          </a:prstGeom>
          <a:solidFill>
            <a:srgbClr val="F79E1B"/>
          </a:solidFill>
          <a:ln/>
        </p:spPr>
      </p:sp>
      <p:sp>
        <p:nvSpPr>
          <p:cNvPr id="23" name="Text 21"/>
          <p:cNvSpPr/>
          <p:nvPr/>
        </p:nvSpPr>
        <p:spPr>
          <a:xfrm>
            <a:off x="6364224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9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364224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64224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but Friction-Prone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64224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2,167 eps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9944" y="422452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episodes, but highest pause/rewind rate per minute — friction despite brevity.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97696" y="2011680"/>
            <a:ext cx="2651760" cy="3246120"/>
          </a:xfrm>
          <a:prstGeom prst="roundRect">
            <a:avLst>
              <a:gd name="adj" fmla="val 2069"/>
            </a:avLst>
          </a:prstGeom>
          <a:solidFill>
            <a:srgbClr val="FCFCF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26296" y="2240280"/>
            <a:ext cx="2194560" cy="73152"/>
          </a:xfrm>
          <a:prstGeom prst="roundRect">
            <a:avLst/>
          </a:prstGeom>
          <a:solidFill>
            <a:srgbClr val="EB001B"/>
          </a:solidFill>
          <a:ln/>
        </p:spPr>
      </p:sp>
      <p:sp>
        <p:nvSpPr>
          <p:cNvPr id="30" name="Text 28"/>
          <p:cNvSpPr/>
          <p:nvPr/>
        </p:nvSpPr>
        <p:spPr>
          <a:xfrm>
            <a:off x="9180576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B0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9180576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80576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&amp; Cognitively Demanding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180576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6,254 eps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26296" y="422452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duration, highest cognitive load, elevated friction — the clearest at-risk profile.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6EC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" y="560527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hand-off: instead of a broad retention strategy, the platform can target the highest-risk segment specifically (long + cognitively demanding + high friction) with pacing or re-edit investment.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06424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Viewer Retention Diagnostic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B00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Recommendations, Prioritization &amp; Risk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what actually moved the model and the segments above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48056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2606040"/>
                <a:gridCol w="1051560"/>
                <a:gridCol w="3749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Insight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Risk / Mitigation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EB0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&amp; re-review early episodes of new series before release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Sharpest drop-off jump occurs right after episode 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Reviewers over-correct pacing → pair flag with the specific driver, not a blanket note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EB0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the highest-risk segment (long + high cognitive load + high friction) for pacing/re-edit investment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drop-off (43%) is well above the platform average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F79E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may not generalize → re-validate segment against next season's data before wide rollout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EB0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 soft duration ceiling for genres/segments already showing duration-driven risk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is a top SHAP driver and a clear EDA pattern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F79E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One-size-fits-all cap hurts unaffected genres → apply only within the flagged segment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EB0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predicted probability as a continuous retention-risk score for QA/marketing prioritization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table shows a tunable precision/recall trade-off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over-trust the score → always pair with top SHAP drivers for explainability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062472"/>
            <a:ext cx="11064240" cy="402336"/>
          </a:xfrm>
          <a:prstGeom prst="roundRect">
            <a:avLst>
              <a:gd name="adj" fmla="val 1363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6247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79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prioritize the high-feasibility, low-creative-risk actions first (1 &amp; 4); treat content-editing actions (2 &amp; 3) as scoped, re-validated pilots.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06424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Viewer Retention Diagnostic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2026-09-02T10:29:16Z</dcterms:created>
  <dcterms:modified xsi:type="dcterms:W3CDTF">2026-09-02T10:29:16Z</dcterms:modified>
</cp:coreProperties>
</file>